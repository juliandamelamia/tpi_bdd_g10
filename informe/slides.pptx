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de chofer único: uno comparte pantalla, el resto relata. 6 min por persona, cronómetro a la vista. Orden: Damián, Matías, Gabi, Julián, Tomás.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(Damián) Plantear el dolor del negocio: datos crudos, multicanal, esquemas que cambian. Eso obliga a dos tratamientos distintos: guardar flexible y analizar con rigor.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(Damián) La decisión central del TP. Mostrar el diagrama de las tres capas y dejar la frase: usar el motor correcto para el trabajo correcto.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(Matías) Concepto a remarcar: esquema flexible. La estructura real del documento va en la slide que sigue.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(Matías) Estructura real de la coleccion responses: encuesta_id, encuestado_id, fecha, fuente y el arreglo respuestas con cada pregunta. El documento anidado es la razon por la que hace falta un esquema flexible.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(Gabi) Justificar el lado SQL: por qué un motor relacional para la capa analítica. Delegamos la matemática pesada al motor, no a la aplicación.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(Damián) Cierre del bloque de motores y del overview de stack. Dejar claro que está todo en la nube, que es lo que pide la nota máxima.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(Gabi) Mostrar el DER. Justificar el híbrido: estrella para agregar rápido, pero answer_options -&gt; questions -&gt; surveys está normalizado (copo de nieve). Nombrar la tabla de auditoría.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(Gabi) El punto para lucirse. El hash del respondent_id deriva región, NSE, edad y género. No guardamos datos personales: los reconstruimos. Es el snippet real del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(Julián) Mostrar el diagrama de flujo y después pasar al IDE. Explicar la extracción y el aplanado del JSON anidado, más el enriquecido por 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(Julián) Idempotente quiere decir que correrlo de nuevo da el mismo estado. DO UPDATE actualiza (por ej. el status active a closed), DO NOTHING evita duplicar en la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(Gabi) Cubre el ítem 4.5 de la consigna. Una clave: la PK de dim_surveys. Dos claves: la fact tiene clave compuesta (response_id, question_id), uq_fact_response_question.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(Tomás) Ítem 5.1 de la consigna. Para qué sirve: ver cómo opina cada región o NSE sin reescribir queries. Mostrar la función y su resultado real, suma cercana a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(Tomás) Ítem 5.2. Lambda es el olvido por día. Con más datos frescos, la banda de error se angosta. Toda la estadística vive en el motor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(Tomás) Pasar al navegador (localhost:8501). Mostrar la predicción, el mapa de provincias, la evolución temporal y el explorador. Mover el slider lambda en la tab Predicción para que se vea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(Tomás) Cerrar volviendo al dolor del Bloque 1: la arquitectura políglota resuelve la ingesta flexible y el análisis con rigor. Abrir 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respaldo, por si preguntan por escala o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Inteligencia Colectiva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A9D8F"/>
                </a:solidFill>
                <a:latin typeface="Calibri"/>
              </a:rPr>
              <a:t>Data Warehouse políglota: MongoDB +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TP Integrador de Bases de Datos. Grupo 10.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Fraga · Piuselli · Arnesano · Kronenberger · Korenblit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B9E3DD"/>
                </a:solidFill>
                <a:latin typeface="Calibri"/>
              </a:rPr>
              <a:t>Corre en la nube: Supabase (PostgreSQL) y MongoDB Atlas.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ESCENARIO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A43"/>
                </a:solidFill>
                <a:latin typeface="Calibri"/>
              </a:rPr>
              <a:t>La empresa y 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Inteligencia Colectiva. TP Integrador BDD. Grupo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0">
                <a:solidFill>
                  <a:srgbClr val="0F2A43"/>
                </a:solidFill>
                <a:latin typeface="Calibri"/>
              </a:rPr>
              <a:t>•  Inteligencia Colectiva: consultora de opinión pública.</a:t>
            </a:r>
          </a:p>
          <a:p>
            <a:pPr algn="l">
              <a:spcAft>
                <a:spcPts val="700"/>
              </a:spcAft>
            </a:pPr>
            <a:r>
              <a:rPr sz="1900" b="0">
                <a:solidFill>
                  <a:srgbClr val="0F2A43"/>
                </a:solidFill>
                <a:latin typeface="Calibri"/>
              </a:rPr>
              <a:t>•  Encuesta por teléfono (IVR) y por formularios web.</a:t>
            </a:r>
          </a:p>
          <a:p>
            <a:pPr algn="l">
              <a:spcAft>
                <a:spcPts val="700"/>
              </a:spcAft>
            </a:pPr>
            <a:r>
              <a:rPr sz="1900" b="0">
                <a:solidFill>
                  <a:srgbClr val="0F2A43"/>
                </a:solidFill>
                <a:latin typeface="Calibri"/>
              </a:rPr>
              <a:t>•  El cuello de botella es la ingesta: muchas encuestas, de varios canales, todas distintas.</a:t>
            </a:r>
          </a:p>
          <a:p>
            <a:pPr algn="l" lvl="1">
              <a:spcAft>
                <a:spcPts val="7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–  Cada cuestionario trae otra cantidad y otro tipo de preguntas.</a:t>
            </a:r>
          </a:p>
          <a:p>
            <a:pPr algn="l" lvl="1">
              <a:spcAft>
                <a:spcPts val="7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–  El formato cambia seguido, así que no hay un esquema fijo.</a:t>
            </a:r>
          </a:p>
          <a:p>
            <a:pPr algn="l">
              <a:spcAft>
                <a:spcPts val="700"/>
              </a:spcAft>
            </a:pPr>
            <a:r>
              <a:rPr sz="1900" b="0">
                <a:solidFill>
                  <a:srgbClr val="0F2A43"/>
                </a:solidFill>
                <a:latin typeface="Calibri"/>
              </a:rPr>
              <a:t>•  El cliente quiere tableros de tendencias, cortes por edad, NSE y región, y proyecciones.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ESCENARIO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A43"/>
                </a:solidFill>
                <a:latin typeface="Calibri"/>
              </a:rPr>
              <a:t>La solución: arquitectura políglota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Inteligencia Colectiva. TP Integrador BDD. Grupo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El flujo tiene dos momentos muy distintos.</a:t>
            </a:r>
          </a:p>
          <a:p>
            <a:pPr algn="l" lvl="1">
              <a:spcAft>
                <a:spcPts val="7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Primero entra todo crudo y desordenado.</a:t>
            </a:r>
          </a:p>
          <a:p>
            <a:pPr algn="l" lvl="1">
              <a:spcAft>
                <a:spcPts val="7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Después se ordena para analizar y predecir.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Usamos un motor para cada momento.</a:t>
            </a:r>
          </a:p>
          <a:p>
            <a:pPr algn="l" lvl="1">
              <a:spcAft>
                <a:spcPts val="7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MongoDB guarda lo crudo (Data Lake).</a:t>
            </a:r>
          </a:p>
          <a:p>
            <a:pPr algn="l" lvl="1">
              <a:spcAft>
                <a:spcPts val="7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PostgreSQL hace el análisis (Data Warehouse).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El recorrido es extracción, transformación y presentación.</a:t>
            </a:r>
          </a:p>
        </p:txBody>
      </p:sp>
      <p:pic>
        <p:nvPicPr>
          <p:cNvPr id="8" name="Picture 7" descr="Capa de Extracción y-2026-05-31-1558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420959"/>
            <a:ext cx="4846320" cy="930481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MOTORES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A43"/>
                </a:solidFill>
                <a:latin typeface="Calibri"/>
              </a:rPr>
              <a:t>MongoDB: el Data Lake (NoSQL)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Inteligencia Colectiva. TP Integrador BDD. Grupo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Proveedor: MongoDB Inc. Licencia SSPL (libre; Atlas es la versión gestionada).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Lo elegimos porque es schema-less: absorbe encuestas que cambian de forma sin migrar nada.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El documento JSON/BSON encaja con la jerarquía pregunta-respuesta.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Se consigue local, con Docker (docker pull mongo), o en la nube con Atlas.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MOTORES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A43"/>
                </a:solidFill>
                <a:latin typeface="Calibri"/>
              </a:rPr>
              <a:t>El documento en MongoDB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Inteligencia Colectiva. TP Integrador BDD. Grupo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0F2A43"/>
                </a:solidFill>
                <a:latin typeface="Calibri"/>
              </a:rPr>
              <a:t>•  Dos colecciones: surveys (la encuesta y sus preguntas) y responses (cada respuesta).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0F2A43"/>
                </a:solidFill>
                <a:latin typeface="Calibri"/>
              </a:rPr>
              <a:t>•  Una respuesta llega anidada, tal cual la guarda Mongo: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004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{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  "_id": "resp_0001_001",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  "encuesta_id": "survey_0001",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  "encuestado_id": "person_00017",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  "fecha": "2025-03-14T10:32:00",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  "fuente": "IVR",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  "respuestas": [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    { "pregunta_id": "survey_0001_q01",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      "opcion_id": "survey_0001_q01_opt03",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      "valor": 3, "texto": "Movimiento Popular" },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    { "pregunta_id": "survey_0001_q02", "valor": 2, "texto": "Buena" }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  ]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MOTORES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A43"/>
                </a:solidFill>
                <a:latin typeface="Calibri"/>
              </a:rPr>
              <a:t>PostgreSQL: el Data Warehouse (SQL)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Inteligencia Colectiva. TP Integrador BDD. Grupo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Proveedor: PostgreSQL Global Development Group. Licencia tipo BSD/MIT, gratis.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Lo elegimos por el rigor: ACID, y funciones analíticas que corren dentro del motor.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La segmentación y la predicción bayesiana pasan en SQL, no en la app.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Lo usamos vía Supabase, que lo deja andando en la nube.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Se consigue local, con Docker, o gestionado (Supabase, RDS, Cloud SQL).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MOTORES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A43"/>
                </a:solidFill>
                <a:latin typeface="Calibri"/>
              </a:rPr>
              <a:t>Un motor para cada cosa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Inteligencia Colectiva. TP Integrador BDD. Grupo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0">
                <a:solidFill>
                  <a:srgbClr val="0F2A43"/>
                </a:solidFill>
                <a:latin typeface="Calibri"/>
              </a:rPr>
              <a:t>•  MongoDB guarda lo crudo. PostgreSQL lo analiza.</a:t>
            </a:r>
          </a:p>
          <a:p>
            <a:pPr algn="l">
              <a:spcAft>
                <a:spcPts val="700"/>
              </a:spcAft>
            </a:pPr>
            <a:r>
              <a:rPr sz="1900" b="0">
                <a:solidFill>
                  <a:srgbClr val="0F2A43"/>
                </a:solidFill>
                <a:latin typeface="Calibri"/>
              </a:rPr>
              <a:t>•  La regla que seguimos: usar el motor correcto para el trabajo correcto.</a:t>
            </a:r>
          </a:p>
          <a:p>
            <a:pPr algn="l">
              <a:spcAft>
                <a:spcPts val="700"/>
              </a:spcAft>
            </a:pPr>
            <a:r>
              <a:rPr sz="1900" b="0">
                <a:solidFill>
                  <a:srgbClr val="0F2A43"/>
                </a:solidFill>
                <a:latin typeface="Calibri"/>
              </a:rPr>
              <a:t>•  Los dos están gestionados en la nube: Postgres en Supabase, Mongo en Atlas.</a:t>
            </a:r>
          </a:p>
          <a:p>
            <a:pPr algn="l" lvl="1">
              <a:spcAft>
                <a:spcPts val="7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–  Eso nos pone en el tramo más alto de la consigna (nube).</a:t>
            </a:r>
          </a:p>
          <a:p>
            <a:pPr algn="l">
              <a:spcAft>
                <a:spcPts val="700"/>
              </a:spcAft>
            </a:pPr>
            <a:r>
              <a:rPr sz="1900" b="0">
                <a:solidFill>
                  <a:srgbClr val="0F2A43"/>
                </a:solidFill>
                <a:latin typeface="Calibri"/>
              </a:rPr>
              <a:t>•  Las credenciales van en .env, fuera del código. En Supabase sumamos roles y RLS.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MODELADO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A43"/>
                </a:solidFill>
                <a:latin typeface="Calibri"/>
              </a:rPr>
              <a:t>Estrella, con una rama en copo de nieve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Inteligencia Colectiva. TP Integrador BDD. Grupo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Hechos: fact_survey_responses, una fila por cada respuesta.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Dimensiones: surveys, questions, answer_options, respondents y time.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No es estrella pura: answer_options cuelga de questions, y questions de surveys.</a:t>
            </a:r>
          </a:p>
          <a:p>
            <a:pPr algn="l" lvl="1">
              <a:spcAft>
                <a:spcPts val="7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Esa rama normalizada es lo que la vuelve híbrida (copo de nieve).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Auditoría aparte: etl_process_executions guarda cada corrida del ETL.</a:t>
            </a:r>
          </a:p>
        </p:txBody>
      </p:sp>
      <p:pic>
        <p:nvPicPr>
          <p:cNvPr id="8" name="Picture 7" descr="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296727"/>
            <a:ext cx="5029200" cy="3270384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MODELADO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A43"/>
                </a:solidFill>
                <a:latin typeface="Calibri"/>
              </a:rPr>
              <a:t>Perfilado determinístico con SHA-256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Inteligencia Colectiva. TP Integrador BDD. Grupo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El perfil del encuestado no se guarda: se calcula del ID con un hash.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La misma persona da siempre el mismo perfil, sin almacenar datos personales.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Así tenemos región, NSE y edad consistentes entre encuestas.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83280"/>
            <a:ext cx="10881360" cy="237744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def profile_for(respondent_id: str) -&gt; dict: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    h = hashlib.sha256(respondent_id.encode()).digest()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    region = REGIONS[h[0] % len(REGIONS)]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    nse    = NSE_LEVELS[h[1] % len(NSE_LEVELS)]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    edad   = 16 + (int.from_bytes(h[3:5], "big") % 75)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    return {"region": region, "nse": nse, "edad": edad, ...}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790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onsolas"/>
              </a:rPr>
              <a:t>src/demographics.py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A43"/>
                </a:solidFill>
                <a:latin typeface="Calibri"/>
              </a:rPr>
              <a:t>El proceso ETL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Inteligencia Colectiva. TP Integrador BDD. Grupo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El ETL lee de Mongo por lotes, aplana el JSON, lo enriquece con el hash y carga en Postgres.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Está en src/etl_mongo_to_postgres.py y corre incremental: no borra lo que ya está.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Cada corrida queda registrada en etl_process_executions.</a:t>
            </a:r>
          </a:p>
        </p:txBody>
      </p:sp>
      <p:pic>
        <p:nvPicPr>
          <p:cNvPr id="8" name="Picture 7" descr="E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352" y="1691640"/>
            <a:ext cx="2139535" cy="4480560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A43"/>
                </a:solidFill>
                <a:latin typeface="Calibri"/>
              </a:rPr>
              <a:t>Idempotencia: ON CONFLICT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Inteligencia Colectiva. TP Integrador BDD. Grupo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El ETL se puede correr mil veces y no duplica nada.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En las dimensiones hace upsert: si ya existe, lo actualiza (DO UPDATE).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En los hechos ignora el duplicado (DO NOTHING), apoyado en la unicidad uq_fact_response_question.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91840"/>
            <a:ext cx="10881360" cy="246888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# Dimensiones: upsert (crea o actualiza)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stmt.on_conflict_do_update(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    index_elements=["respondent_id"],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    set_={"region": stmt.excluded.region, ...})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# Hechos: ignora duplicados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stmt.on_conflict_do_nothing(index_elements=["date_key"])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CONSULTAS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A43"/>
                </a:solidFill>
                <a:latin typeface="Calibri"/>
              </a:rPr>
              <a:t>Búsquedas por una y por dos claves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Inteligencia Colectiva. TP Integrador BDD. Grupo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La consigna pide buscar por una clave y por dos.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Salen de sql/busquedas.sql, ya sobre el Data Warehouse cargado.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881360" cy="27432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-- una clave (PK survey_id)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select * from dim_surveys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where survey_id = 'survey_0001';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-- dos claves (clave compuesta de la fact)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select * from fact_survey_responses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where response_id = 'resp_0001_001'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11827"/>
                </a:solidFill>
                <a:latin typeface="Consolas"/>
              </a:rPr>
              <a:t>  and question_id = 'survey_0001_q01';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MINERÍA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A43"/>
                </a:solidFill>
                <a:latin typeface="Calibri"/>
              </a:rPr>
              <a:t>Función de segmentación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Inteligencia Colectiva. TP Integrador BDD. Grupo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0F2A43"/>
                </a:solidFill>
                <a:latin typeface="Calibri"/>
              </a:rPr>
              <a:t>•  segmentar_respuestas(categoria, desde, hasta, dimension).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0F2A43"/>
                </a:solidFill>
                <a:latin typeface="Calibri"/>
              </a:rPr>
              <a:t>•  Agrupa las respuestas por la dimensión que le pidas: región, NSE, y demás.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0F2A43"/>
                </a:solidFill>
                <a:latin typeface="Calibri"/>
              </a:rPr>
              <a:t>•  Cuenta y saca el porcentaje de cada segmento, todo dentro de 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5669280" cy="13716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select * from segmentar_respuestas(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  'intencion_voto',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  '2024-01-01', '2026-12-31', 'region');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2788920"/>
          <a:ext cx="5029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segmento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cantidad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NEA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17.23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AMBA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683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17.08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Centro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16.95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NOA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666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16.65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Patagonia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16.53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Cuyo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623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2A43"/>
                          </a:solidFill>
                          <a:latin typeface="Calibri"/>
                        </a:rPr>
                        <a:t>15.58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MINERÍA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A43"/>
                </a:solidFill>
                <a:latin typeface="Calibri"/>
              </a:rPr>
              <a:t>Función de predicción (bayesiana)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Inteligencia Colectiva. TP Integrador BDD. Grupo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0F2A43"/>
                </a:solidFill>
                <a:latin typeface="Calibri"/>
              </a:rPr>
              <a:t>•  predecir_shares(categoria, fecha_corte, lambda, prior, region, nse).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0F2A43"/>
                </a:solidFill>
                <a:latin typeface="Calibri"/>
              </a:rPr>
              <a:t>•  Es un Dirichlet-Multinomial con descuento por recencia: lambda le da más peso a lo nuevo.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0F2A43"/>
                </a:solidFill>
                <a:latin typeface="Calibri"/>
              </a:rPr>
              <a:t>•  Devuelve el share estimado y su intervalo de credibilidad del 95%.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5669280" cy="109728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select * from predecir_shares(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11827"/>
                </a:solidFill>
                <a:latin typeface="Consolas"/>
              </a:rPr>
              <a:t>  'intencion_voto', '2026-09-26', 0.0, 5.0);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2788920"/>
          <a:ext cx="50292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280160"/>
                <a:gridCol w="1463040"/>
              </a:tblGrid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partido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IC 95%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2A43"/>
                          </a:solidFill>
                          <a:latin typeface="Calibri"/>
                        </a:rPr>
                        <a:t>Frente Federal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2A43"/>
                          </a:solidFill>
                          <a:latin typeface="Calibri"/>
                        </a:rPr>
                        <a:t>26.2%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2A43"/>
                          </a:solidFill>
                          <a:latin typeface="Calibri"/>
                        </a:rPr>
                        <a:t>24.8 a 27.5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2A43"/>
                          </a:solidFill>
                          <a:latin typeface="Calibri"/>
                        </a:rPr>
                        <a:t>Unión Republicana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2A43"/>
                          </a:solidFill>
                          <a:latin typeface="Calibri"/>
                        </a:rPr>
                        <a:t>21.7%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2A43"/>
                          </a:solidFill>
                          <a:latin typeface="Calibri"/>
                        </a:rPr>
                        <a:t>20.4 a 23.0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2A43"/>
                          </a:solidFill>
                          <a:latin typeface="Calibri"/>
                        </a:rPr>
                        <a:t>Movimiento Popular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2A43"/>
                          </a:solidFill>
                          <a:latin typeface="Calibri"/>
                        </a:rPr>
                        <a:t>20.8%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2A43"/>
                          </a:solidFill>
                          <a:latin typeface="Calibri"/>
                        </a:rPr>
                        <a:t>19.6 a 22.1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2A43"/>
                          </a:solidFill>
                          <a:latin typeface="Calibri"/>
                        </a:rPr>
                        <a:t>Alianza Verde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2A43"/>
                          </a:solidFill>
                          <a:latin typeface="Calibri"/>
                        </a:rPr>
                        <a:t>16.9%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2A43"/>
                          </a:solidFill>
                          <a:latin typeface="Calibri"/>
                        </a:rPr>
                        <a:t>15.8 a 18.1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2A43"/>
                          </a:solidFill>
                          <a:latin typeface="Calibri"/>
                        </a:rPr>
                        <a:t>Partido Vecinal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2A43"/>
                          </a:solidFill>
                          <a:latin typeface="Calibri"/>
                        </a:rPr>
                        <a:t>14.4%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2A43"/>
                          </a:solidFill>
                          <a:latin typeface="Calibri"/>
                        </a:rPr>
                        <a:t>13.3 a 15.4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A43"/>
                </a:solidFill>
                <a:latin typeface="Calibri"/>
              </a:rPr>
              <a:t>El dashboard,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Inteligencia Colectiva. TP Integrador BDD. Grupo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0F2A43"/>
                </a:solidFill>
                <a:latin typeface="Calibri"/>
              </a:rPr>
              <a:t>•  dashboard/app.py se conecta directo al Data Warehouse. Tiene más de cuatro vistas:</a:t>
            </a:r>
          </a:p>
          <a:p>
            <a:pPr algn="l" lvl="1">
              <a:spcAft>
                <a:spcPts val="7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 Intención de voto: barras con intervalo (predecir_shares) y un mapa de provincias por partido.</a:t>
            </a:r>
          </a:p>
          <a:p>
            <a:pPr algn="l" lvl="1">
              <a:spcAft>
                <a:spcPts val="7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 Imagen de gobierno mes a mes, cruzando la fact con dim_time.</a:t>
            </a:r>
          </a:p>
          <a:p>
            <a:pPr algn="l" lvl="1">
              <a:spcAft>
                <a:spcPts val="7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 Composición de la muestra: región, edad, género y canal.</a:t>
            </a:r>
          </a:p>
          <a:p>
            <a:pPr algn="l" lvl="1">
              <a:spcAft>
                <a:spcPts val="7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–  Explorador: movés el lambda y los filtros, y el modelo se recalcula al toque.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0F2A43"/>
                </a:solidFill>
                <a:latin typeface="Calibri"/>
              </a:rPr>
              <a:t>•  En la demo subimos el lambda y se ve cómo se abre el intervalo.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A43"/>
                </a:solidFill>
                <a:latin typeface="Calibri"/>
              </a:rPr>
              <a:t>Cómo cierra con el problema del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Inteligencia Colectiva. TP Integrador BDD. Grupo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>
                <a:solidFill>
                  <a:srgbClr val="0F2A43"/>
                </a:solidFill>
                <a:latin typeface="Calibri"/>
              </a:rPr>
              <a:t>•  Volvemos al principio: encuestas crudas de muchos canales, y un tablero que las vuelve útiles.</a:t>
            </a:r>
          </a:p>
          <a:p>
            <a:pPr algn="l">
              <a:spcAft>
                <a:spcPts val="700"/>
              </a:spcAft>
            </a:pPr>
            <a:r>
              <a:rPr sz="2000" b="0">
                <a:solidFill>
                  <a:srgbClr val="0F2A43"/>
                </a:solidFill>
                <a:latin typeface="Calibri"/>
              </a:rPr>
              <a:t>•  Cada motor en su lugar: Mongo para guardar, Postgres para analizar y predecir.</a:t>
            </a:r>
          </a:p>
          <a:p>
            <a:pPr algn="l">
              <a:spcAft>
                <a:spcPts val="700"/>
              </a:spcAft>
            </a:pPr>
            <a:r>
              <a:rPr sz="2000" b="0">
                <a:solidFill>
                  <a:srgbClr val="0F2A43"/>
                </a:solidFill>
                <a:latin typeface="Calibri"/>
              </a:rPr>
              <a:t>•  La minería corre en la base, el ETL es idempotente y el perfil no expone datos personales.</a:t>
            </a:r>
          </a:p>
          <a:p>
            <a:pPr algn="l">
              <a:spcAft>
                <a:spcPts val="700"/>
              </a:spcAft>
            </a:pPr>
            <a:r>
              <a:rPr sz="2000" b="0">
                <a:solidFill>
                  <a:srgbClr val="0F2A43"/>
                </a:solidFill>
                <a:latin typeface="Calibri"/>
              </a:rPr>
              <a:t>•  Está todo gestionado en la nube.</a:t>
            </a:r>
          </a:p>
          <a:p>
            <a:pPr algn="l">
              <a:spcAft>
                <a:spcPts val="700"/>
              </a:spcAft>
            </a:pPr>
            <a:r>
              <a:rPr sz="2000" b="0">
                <a:solidFill>
                  <a:srgbClr val="0F2A43"/>
                </a:solidFill>
                <a:latin typeface="Calibri"/>
              </a:rPr>
              <a:t>•  Gracias. Preguntas.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APÉNDICE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A43"/>
                </a:solidFill>
                <a:latin typeface="Calibri"/>
              </a:rPr>
              <a:t>Tamaño y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Inteligencia Colectiva. TP Integrador BDD. Grupo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Una encuesta grande deja cerca de 1.6M filas en la fact, unos 50 MB.</a:t>
            </a:r>
          </a:p>
          <a:p>
            <a:pPr algn="l" lvl="1">
              <a:spcAft>
                <a:spcPts val="7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Con 100 GB de disco aguanta años sin necesitar sharding.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0F2A43"/>
                </a:solidFill>
                <a:latin typeface="Calibri"/>
              </a:rPr>
              <a:t>•  Las credenciales van en .env, fuera del código.</a:t>
            </a:r>
          </a:p>
          <a:p>
            <a:pPr algn="l" lvl="1">
              <a:spcAft>
                <a:spcPts val="7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–  En Supabase usamos RLS y roles separados: lectura para el dashboard, escritura para el ETL.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